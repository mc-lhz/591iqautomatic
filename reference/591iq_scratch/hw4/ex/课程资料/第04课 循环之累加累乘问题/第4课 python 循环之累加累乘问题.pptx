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536" r:id="rId5"/>
    <p:sldId id="538" r:id="rId6"/>
    <p:sldId id="537" r:id="rId7"/>
    <p:sldId id="527" r:id="rId8"/>
    <p:sldId id="528" r:id="rId9"/>
    <p:sldId id="529" r:id="rId10"/>
    <p:sldId id="530" r:id="rId11"/>
    <p:sldId id="531" r:id="rId12"/>
    <p:sldId id="533" r:id="rId13"/>
    <p:sldId id="534" r:id="rId14"/>
    <p:sldId id="535" r:id="rId15"/>
  </p:sldIdLst>
  <p:sldSz cx="9144000" cy="6858000" type="screen4x3"/>
  <p:notesSz cx="6858000" cy="9144000"/>
  <p:embeddedFontLst>
    <p:embeddedFont>
      <p:font typeface="Calibri Light" panose="020F0302020204030204" pitchFamily="34" charset="0"/>
      <p:regular r:id="rId19"/>
      <p:italic r:id="rId20"/>
    </p:embeddedFont>
    <p:embeddedFont>
      <p:font typeface="微软雅黑" panose="020B0503020204020204" pitchFamily="34" charset="-122"/>
      <p:regular r:id="rId21"/>
    </p:embeddedFont>
    <p:embeddedFont>
      <p:font typeface="黑体" panose="02010609060101010101" pitchFamily="49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2DFE2"/>
    <a:srgbClr val="F9F0F1"/>
    <a:srgbClr val="F0DADE"/>
    <a:srgbClr val="EACBD1"/>
    <a:srgbClr val="FFFFFF"/>
    <a:srgbClr val="DFBBB3"/>
    <a:srgbClr val="E29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79046"/>
  </p:normalViewPr>
  <p:slideViewPr>
    <p:cSldViewPr showGuides="1">
      <p:cViewPr varScale="1">
        <p:scale>
          <a:sx n="104" d="100"/>
          <a:sy n="104" d="100"/>
        </p:scale>
        <p:origin x="-84" y="-126"/>
      </p:cViewPr>
      <p:guideLst>
        <p:guide orient="horz" pos="2168"/>
        <p:guide pos="2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noProof="1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noProof="1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CAD13C-D820-4172-B6F3-4EB57DCA6D92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noProof="1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rot="8100000">
            <a:off x="581025" y="4973638"/>
            <a:ext cx="2808288" cy="3741738"/>
          </a:xfrm>
          <a:prstGeom prst="rtTriangle">
            <a:avLst/>
          </a:prstGeom>
          <a:solidFill>
            <a:srgbClr val="C5CA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直角三角形 7"/>
          <p:cNvSpPr/>
          <p:nvPr/>
        </p:nvSpPr>
        <p:spPr>
          <a:xfrm rot="5400000">
            <a:off x="-519112" y="519113"/>
            <a:ext cx="4156075" cy="3117850"/>
          </a:xfrm>
          <a:prstGeom prst="rtTriangle">
            <a:avLst/>
          </a:prstGeom>
          <a:solidFill>
            <a:srgbClr val="7F85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0800000">
            <a:off x="8493125" y="0"/>
            <a:ext cx="650875" cy="868363"/>
          </a:xfrm>
          <a:prstGeom prst="rtTriangle">
            <a:avLst/>
          </a:prstGeom>
          <a:solidFill>
            <a:srgbClr val="CC9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任意多边形: 形状 4"/>
          <p:cNvSpPr/>
          <p:nvPr/>
        </p:nvSpPr>
        <p:spPr>
          <a:xfrm rot="2700000">
            <a:off x="-329406" y="3471069"/>
            <a:ext cx="1681163" cy="2705100"/>
          </a:xfrm>
          <a:custGeom>
            <a:avLst/>
            <a:gdLst>
              <a:gd name="connsiteX0" fmla="*/ 0 w 1681019"/>
              <a:gd name="connsiteY0" fmla="*/ 0 h 3609694"/>
              <a:gd name="connsiteX1" fmla="*/ 1681019 w 1681019"/>
              <a:gd name="connsiteY1" fmla="*/ 0 h 3609694"/>
              <a:gd name="connsiteX2" fmla="*/ 1681019 w 1681019"/>
              <a:gd name="connsiteY2" fmla="*/ 3609694 h 3609694"/>
              <a:gd name="connsiteX3" fmla="*/ 0 w 1681019"/>
              <a:gd name="connsiteY3" fmla="*/ 1928675 h 3609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1019" h="3609694">
                <a:moveTo>
                  <a:pt x="0" y="0"/>
                </a:moveTo>
                <a:lnTo>
                  <a:pt x="1681019" y="0"/>
                </a:lnTo>
                <a:lnTo>
                  <a:pt x="1681019" y="3609694"/>
                </a:lnTo>
                <a:lnTo>
                  <a:pt x="0" y="1928675"/>
                </a:lnTo>
                <a:close/>
              </a:path>
            </a:pathLst>
          </a:custGeom>
          <a:solidFill>
            <a:srgbClr val="EACB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384381" y="6098381"/>
            <a:ext cx="868363" cy="650875"/>
          </a:xfrm>
          <a:prstGeom prst="rtTriangle">
            <a:avLst/>
          </a:prstGeom>
          <a:solidFill>
            <a:srgbClr val="EACB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rot="10800000">
            <a:off x="8493125" y="-22225"/>
            <a:ext cx="650875" cy="868363"/>
          </a:xfrm>
          <a:prstGeom prst="rtTriangle">
            <a:avLst/>
          </a:prstGeom>
          <a:solidFill>
            <a:srgbClr val="CC9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075" name="组合 6"/>
          <p:cNvGrpSpPr/>
          <p:nvPr userDrawn="1"/>
        </p:nvGrpSpPr>
        <p:grpSpPr>
          <a:xfrm>
            <a:off x="-228600" y="6091238"/>
            <a:ext cx="1304925" cy="1250950"/>
            <a:chOff x="-1122957" y="3982473"/>
            <a:chExt cx="6595475" cy="4746684"/>
          </a:xfrm>
        </p:grpSpPr>
        <p:sp>
          <p:nvSpPr>
            <p:cNvPr id="9" name="直角三角形 4"/>
            <p:cNvSpPr/>
            <p:nvPr/>
          </p:nvSpPr>
          <p:spPr>
            <a:xfrm rot="8100000">
              <a:off x="770634" y="4988431"/>
              <a:ext cx="3747067" cy="3740726"/>
            </a:xfrm>
            <a:prstGeom prst="rtTriangle">
              <a:avLst/>
            </a:prstGeom>
            <a:solidFill>
              <a:srgbClr val="C5CA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任意多边形: 形状 5"/>
            <p:cNvSpPr/>
            <p:nvPr/>
          </p:nvSpPr>
          <p:spPr>
            <a:xfrm rot="2700000">
              <a:off x="-157930" y="3017447"/>
              <a:ext cx="1680613" cy="3610661"/>
            </a:xfrm>
            <a:custGeom>
              <a:avLst/>
              <a:gdLst>
                <a:gd name="connsiteX0" fmla="*/ 0 w 1681019"/>
                <a:gd name="connsiteY0" fmla="*/ 0 h 3609694"/>
                <a:gd name="connsiteX1" fmla="*/ 1681019 w 1681019"/>
                <a:gd name="connsiteY1" fmla="*/ 0 h 3609694"/>
                <a:gd name="connsiteX2" fmla="*/ 1681019 w 1681019"/>
                <a:gd name="connsiteY2" fmla="*/ 3609694 h 3609694"/>
                <a:gd name="connsiteX3" fmla="*/ 0 w 1681019"/>
                <a:gd name="connsiteY3" fmla="*/ 1928675 h 3609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019" h="3609694">
                  <a:moveTo>
                    <a:pt x="0" y="0"/>
                  </a:moveTo>
                  <a:lnTo>
                    <a:pt x="1681019" y="0"/>
                  </a:lnTo>
                  <a:lnTo>
                    <a:pt x="1681019" y="3609694"/>
                  </a:lnTo>
                  <a:lnTo>
                    <a:pt x="0" y="1928675"/>
                  </a:lnTo>
                  <a:close/>
                </a:path>
              </a:pathLst>
            </a:custGeom>
            <a:solidFill>
              <a:srgbClr val="EACB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1" name="直接连接符 6"/>
            <p:cNvCxnSpPr/>
            <p:nvPr/>
          </p:nvCxnSpPr>
          <p:spPr>
            <a:xfrm flipH="1" flipV="1">
              <a:off x="3980329" y="5378824"/>
              <a:ext cx="1492189" cy="1479177"/>
            </a:xfrm>
            <a:prstGeom prst="line">
              <a:avLst/>
            </a:prstGeom>
            <a:ln w="12700">
              <a:gradFill>
                <a:gsLst>
                  <a:gs pos="0">
                    <a:srgbClr val="7F85A9">
                      <a:lumMod val="100000"/>
                    </a:srgbClr>
                  </a:gs>
                  <a:gs pos="100000">
                    <a:srgbClr val="7F85A9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7"/>
            <p:cNvCxnSpPr/>
            <p:nvPr/>
          </p:nvCxnSpPr>
          <p:spPr>
            <a:xfrm flipH="1" flipV="1">
              <a:off x="2995002" y="4198204"/>
              <a:ext cx="1492189" cy="1479177"/>
            </a:xfrm>
            <a:prstGeom prst="line">
              <a:avLst/>
            </a:prstGeom>
            <a:ln w="12700">
              <a:gradFill>
                <a:gsLst>
                  <a:gs pos="0">
                    <a:srgbClr val="7F85A9">
                      <a:lumMod val="100000"/>
                    </a:srgbClr>
                  </a:gs>
                  <a:gs pos="100000">
                    <a:srgbClr val="7F85A9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76" name="组合 12"/>
          <p:cNvGrpSpPr/>
          <p:nvPr userDrawn="1"/>
        </p:nvGrpSpPr>
        <p:grpSpPr>
          <a:xfrm>
            <a:off x="0" y="-74612"/>
            <a:ext cx="839788" cy="1012825"/>
            <a:chOff x="-4" y="-215452"/>
            <a:chExt cx="4846654" cy="4371818"/>
          </a:xfrm>
        </p:grpSpPr>
        <p:sp>
          <p:nvSpPr>
            <p:cNvPr id="14" name="直角三角形 9"/>
            <p:cNvSpPr/>
            <p:nvPr/>
          </p:nvSpPr>
          <p:spPr>
            <a:xfrm rot="5400000">
              <a:off x="54" y="-3084"/>
              <a:ext cx="4159392" cy="4159508"/>
            </a:xfrm>
            <a:prstGeom prst="rtTriangle">
              <a:avLst/>
            </a:prstGeom>
            <a:solidFill>
              <a:srgbClr val="7F85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5" name="直接连接符 10"/>
            <p:cNvCxnSpPr/>
            <p:nvPr/>
          </p:nvCxnSpPr>
          <p:spPr>
            <a:xfrm flipV="1">
              <a:off x="1419677" y="868218"/>
              <a:ext cx="2058629" cy="2056507"/>
            </a:xfrm>
            <a:prstGeom prst="line">
              <a:avLst/>
            </a:prstGeom>
            <a:ln w="12700">
              <a:gradFill>
                <a:gsLst>
                  <a:gs pos="0">
                    <a:srgbClr val="7F85A9">
                      <a:lumMod val="100000"/>
                    </a:srgbClr>
                  </a:gs>
                  <a:gs pos="100000">
                    <a:srgbClr val="7F85A9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1"/>
            <p:cNvCxnSpPr/>
            <p:nvPr/>
          </p:nvCxnSpPr>
          <p:spPr>
            <a:xfrm flipV="1">
              <a:off x="2850776" y="-215452"/>
              <a:ext cx="1995874" cy="2111923"/>
            </a:xfrm>
            <a:prstGeom prst="line">
              <a:avLst/>
            </a:prstGeom>
            <a:ln w="12700">
              <a:gradFill>
                <a:gsLst>
                  <a:gs pos="0">
                    <a:srgbClr val="7F85A9">
                      <a:lumMod val="100000"/>
                    </a:srgbClr>
                  </a:gs>
                  <a:gs pos="100000">
                    <a:srgbClr val="7F85A9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直角三角形 12"/>
          <p:cNvSpPr/>
          <p:nvPr/>
        </p:nvSpPr>
        <p:spPr>
          <a:xfrm rot="16200000">
            <a:off x="8384381" y="6076156"/>
            <a:ext cx="868363" cy="650875"/>
          </a:xfrm>
          <a:prstGeom prst="rtTriangle">
            <a:avLst/>
          </a:prstGeom>
          <a:solidFill>
            <a:srgbClr val="EACB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2" name="矩形 4101"/>
          <p:cNvSpPr/>
          <p:nvPr/>
        </p:nvSpPr>
        <p:spPr>
          <a:xfrm>
            <a:off x="1765300" y="2645728"/>
            <a:ext cx="5965825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600" b="1" dirty="0">
                <a:latin typeface="Arial" panose="020B0604020202020204" pitchFamily="34" charset="0"/>
              </a:rPr>
              <a:t>python </a:t>
            </a:r>
            <a:r>
              <a:rPr lang="zh-CN" altLang="en-US" sz="3600" b="1" dirty="0">
                <a:latin typeface="Arial" panose="020B0604020202020204" pitchFamily="34" charset="0"/>
              </a:rPr>
              <a:t>循环之累加累乘问题</a:t>
            </a:r>
            <a:endParaRPr lang="zh-CN" altLang="en-US" sz="36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9" name="文本框 31748"/>
          <p:cNvSpPr txBox="1"/>
          <p:nvPr/>
        </p:nvSpPr>
        <p:spPr>
          <a:xfrm>
            <a:off x="684213" y="333375"/>
            <a:ext cx="1439862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作业展示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1750" name="矩形 31749"/>
          <p:cNvSpPr/>
          <p:nvPr/>
        </p:nvSpPr>
        <p:spPr>
          <a:xfrm>
            <a:off x="2051050" y="1341438"/>
            <a:ext cx="3097213" cy="2573337"/>
          </a:xfrm>
          <a:prstGeom prst="rect">
            <a:avLst/>
          </a:prstGeom>
          <a:noFill/>
          <a:ln w="9525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>
                <a:latin typeface="Arial" panose="020B0604020202020204" pitchFamily="34" charset="0"/>
              </a:rPr>
              <a:t>print("\n</a:t>
            </a:r>
            <a:r>
              <a:rPr lang="zh-CN" altLang="en-US" dirty="0">
                <a:latin typeface="Arial" panose="020B0604020202020204" pitchFamily="34" charset="0"/>
              </a:rPr>
              <a:t>第一题</a:t>
            </a:r>
            <a:r>
              <a:rPr lang="en-US" altLang="zh-CN">
                <a:latin typeface="Arial" panose="020B0604020202020204" pitchFamily="34" charset="0"/>
              </a:rPr>
              <a:t>")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s=0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for i in range(100,1001):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    if i%2==0 and i%5==0: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        </a:t>
            </a:r>
            <a:r>
              <a:rPr lang="en-US" altLang="zh-CN" err="1">
                <a:latin typeface="Arial" panose="020B0604020202020204" pitchFamily="34" charset="0"/>
              </a:rPr>
              <a:t>print(i,end</a:t>
            </a:r>
            <a:r>
              <a:rPr lang="en-US" altLang="zh-CN">
                <a:latin typeface="Arial" panose="020B0604020202020204" pitchFamily="34" charset="0"/>
              </a:rPr>
              <a:t>=" ")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        s=s+1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        if s%10==0:</a:t>
            </a:r>
            <a:endParaRPr lang="en-US" altLang="zh-CN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            print()</a:t>
            </a:r>
            <a:endParaRPr lang="en-US" altLang="zh-CN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print("\n</a:t>
            </a:r>
            <a:r>
              <a:rPr lang="zh-CN" altLang="en-US" dirty="0">
                <a:latin typeface="Arial" panose="020B0604020202020204" pitchFamily="34" charset="0"/>
              </a:rPr>
              <a:t>总个数是：</a:t>
            </a:r>
            <a:r>
              <a:rPr lang="en-US" altLang="zh-CN">
                <a:latin typeface="Arial" panose="020B0604020202020204" pitchFamily="34" charset="0"/>
              </a:rPr>
              <a:t>",s)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51" name="直接连接符 31750"/>
          <p:cNvSpPr/>
          <p:nvPr/>
        </p:nvSpPr>
        <p:spPr>
          <a:xfrm flipH="1" flipV="1">
            <a:off x="3995738" y="3213100"/>
            <a:ext cx="1439862" cy="431800"/>
          </a:xfrm>
          <a:prstGeom prst="line">
            <a:avLst/>
          </a:prstGeom>
          <a:ln w="762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52" name="文本框 31751"/>
          <p:cNvSpPr txBox="1"/>
          <p:nvPr/>
        </p:nvSpPr>
        <p:spPr>
          <a:xfrm>
            <a:off x="5580063" y="3500438"/>
            <a:ext cx="11239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个一行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5" name="矩形 33794"/>
          <p:cNvSpPr/>
          <p:nvPr/>
        </p:nvSpPr>
        <p:spPr>
          <a:xfrm>
            <a:off x="468313" y="1052513"/>
            <a:ext cx="3455987" cy="2573337"/>
          </a:xfrm>
          <a:prstGeom prst="rect">
            <a:avLst/>
          </a:prstGeom>
          <a:noFill/>
          <a:ln w="9525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>
                <a:latin typeface="Arial" panose="020B0604020202020204" pitchFamily="34" charset="0"/>
              </a:rPr>
              <a:t>print("\n</a:t>
            </a:r>
            <a:r>
              <a:rPr lang="zh-CN" altLang="en-US" dirty="0">
                <a:latin typeface="Arial" panose="020B0604020202020204" pitchFamily="34" charset="0"/>
              </a:rPr>
              <a:t>第二题</a:t>
            </a:r>
            <a:r>
              <a:rPr lang="en-US" altLang="zh-CN">
                <a:latin typeface="Arial" panose="020B0604020202020204" pitchFamily="34" charset="0"/>
              </a:rPr>
              <a:t>")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s=0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n=</a:t>
            </a:r>
            <a:r>
              <a:rPr lang="en-US" altLang="zh-CN" err="1">
                <a:latin typeface="Arial" panose="020B0604020202020204" pitchFamily="34" charset="0"/>
              </a:rPr>
              <a:t>int(input</a:t>
            </a:r>
            <a:r>
              <a:rPr lang="en-US" altLang="zh-CN">
                <a:latin typeface="Arial" panose="020B0604020202020204" pitchFamily="34" charset="0"/>
              </a:rPr>
              <a:t>("</a:t>
            </a:r>
            <a:r>
              <a:rPr lang="zh-CN" altLang="en-US" dirty="0">
                <a:latin typeface="Arial" panose="020B0604020202020204" pitchFamily="34" charset="0"/>
              </a:rPr>
              <a:t>输入一个整数：</a:t>
            </a:r>
            <a:r>
              <a:rPr lang="en-US" altLang="zh-CN">
                <a:latin typeface="Arial" panose="020B0604020202020204" pitchFamily="34" charset="0"/>
              </a:rPr>
              <a:t>"))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for i in range(1,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n+1</a:t>
            </a:r>
            <a:r>
              <a:rPr lang="en-US" altLang="zh-CN">
                <a:latin typeface="Arial" panose="020B0604020202020204" pitchFamily="34" charset="0"/>
              </a:rPr>
              <a:t>):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    if </a:t>
            </a:r>
            <a:r>
              <a:rPr lang="en-US" altLang="zh-CN" err="1">
                <a:solidFill>
                  <a:srgbClr val="FF0000"/>
                </a:solidFill>
                <a:latin typeface="Arial" panose="020B0604020202020204" pitchFamily="34" charset="0"/>
              </a:rPr>
              <a:t>n%i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==0</a:t>
            </a:r>
            <a:r>
              <a:rPr lang="en-US" altLang="zh-CN">
                <a:latin typeface="Arial" panose="020B0604020202020204" pitchFamily="34" charset="0"/>
              </a:rPr>
              <a:t> :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        </a:t>
            </a:r>
            <a:r>
              <a:rPr lang="en-US" altLang="zh-CN" err="1">
                <a:latin typeface="Arial" panose="020B0604020202020204" pitchFamily="34" charset="0"/>
              </a:rPr>
              <a:t>print(i,end</a:t>
            </a:r>
            <a:r>
              <a:rPr lang="en-US" altLang="zh-CN">
                <a:latin typeface="Arial" panose="020B0604020202020204" pitchFamily="34" charset="0"/>
              </a:rPr>
              <a:t>=" ")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        s+=1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print("</a:t>
            </a:r>
            <a:r>
              <a:rPr lang="zh-CN" altLang="en-US" dirty="0">
                <a:latin typeface="Arial" panose="020B0604020202020204" pitchFamily="34" charset="0"/>
              </a:rPr>
              <a:t>共</a:t>
            </a:r>
            <a:r>
              <a:rPr lang="en-US" altLang="zh-CN">
                <a:latin typeface="Arial" panose="020B0604020202020204" pitchFamily="34" charset="0"/>
              </a:rPr>
              <a:t>",s,"</a:t>
            </a:r>
            <a:r>
              <a:rPr lang="zh-CN" altLang="en-US" dirty="0">
                <a:latin typeface="Arial" panose="020B0604020202020204" pitchFamily="34" charset="0"/>
              </a:rPr>
              <a:t>个</a:t>
            </a:r>
            <a:r>
              <a:rPr lang="en-US" altLang="zh-CN">
                <a:latin typeface="Arial" panose="020B0604020202020204" pitchFamily="34" charset="0"/>
              </a:rPr>
              <a:t>")</a:t>
            </a:r>
            <a:endParaRPr lang="en-US" altLang="zh-CN">
              <a:latin typeface="Arial" panose="020B0604020202020204" pitchFamily="34" charset="0"/>
            </a:endParaRPr>
          </a:p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3796" name="矩形 33795"/>
          <p:cNvSpPr/>
          <p:nvPr/>
        </p:nvSpPr>
        <p:spPr>
          <a:xfrm>
            <a:off x="4356100" y="404495"/>
            <a:ext cx="3671888" cy="2861310"/>
          </a:xfrm>
          <a:prstGeom prst="rect">
            <a:avLst/>
          </a:prstGeom>
          <a:noFill/>
          <a:ln w="9525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>
                <a:latin typeface="Arial" panose="020B0604020202020204" pitchFamily="34" charset="0"/>
              </a:rPr>
              <a:t>print("\n</a:t>
            </a:r>
            <a:r>
              <a:rPr lang="zh-CN" altLang="en-US" dirty="0">
                <a:latin typeface="Arial" panose="020B0604020202020204" pitchFamily="34" charset="0"/>
              </a:rPr>
              <a:t>第三题</a:t>
            </a:r>
            <a:r>
              <a:rPr lang="en-US" altLang="zh-CN">
                <a:latin typeface="Arial" panose="020B0604020202020204" pitchFamily="34" charset="0"/>
              </a:rPr>
              <a:t>")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s=0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n=</a:t>
            </a:r>
            <a:r>
              <a:rPr lang="en-US" altLang="zh-CN" err="1">
                <a:latin typeface="Arial" panose="020B0604020202020204" pitchFamily="34" charset="0"/>
              </a:rPr>
              <a:t>int(input</a:t>
            </a:r>
            <a:r>
              <a:rPr lang="en-US" altLang="zh-CN">
                <a:latin typeface="Arial" panose="020B0604020202020204" pitchFamily="34" charset="0"/>
              </a:rPr>
              <a:t>("</a:t>
            </a:r>
            <a:r>
              <a:rPr lang="zh-CN" altLang="en-US" dirty="0">
                <a:latin typeface="Arial" panose="020B0604020202020204" pitchFamily="34" charset="0"/>
              </a:rPr>
              <a:t>输入一个整数：</a:t>
            </a:r>
            <a:r>
              <a:rPr lang="en-US" altLang="zh-CN">
                <a:latin typeface="Arial" panose="020B0604020202020204" pitchFamily="34" charset="0"/>
              </a:rPr>
              <a:t>"))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for i in range(1,n+1):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    if </a:t>
            </a:r>
            <a:r>
              <a:rPr lang="en-US" altLang="zh-CN" err="1">
                <a:latin typeface="Arial" panose="020B0604020202020204" pitchFamily="34" charset="0"/>
              </a:rPr>
              <a:t>n%i</a:t>
            </a:r>
            <a:r>
              <a:rPr lang="en-US" altLang="zh-CN">
                <a:latin typeface="Arial" panose="020B0604020202020204" pitchFamily="34" charset="0"/>
              </a:rPr>
              <a:t>==0: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        s+=1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if s==2:</a:t>
            </a:r>
            <a:endParaRPr lang="en-US" altLang="zh-CN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    </a:t>
            </a:r>
            <a:r>
              <a:rPr lang="en-US" altLang="zh-CN" err="1">
                <a:solidFill>
                  <a:srgbClr val="FF0000"/>
                </a:solidFill>
                <a:latin typeface="Arial" panose="020B0604020202020204" pitchFamily="34" charset="0"/>
              </a:rPr>
              <a:t>print(n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,"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为质数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")</a:t>
            </a:r>
            <a:endParaRPr lang="en-US" altLang="zh-CN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else:</a:t>
            </a:r>
            <a:endParaRPr lang="en-US" altLang="zh-CN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    </a:t>
            </a:r>
            <a:r>
              <a:rPr lang="en-US" altLang="zh-CN" err="1">
                <a:solidFill>
                  <a:srgbClr val="FF0000"/>
                </a:solidFill>
                <a:latin typeface="Arial" panose="020B0604020202020204" pitchFamily="34" charset="0"/>
              </a:rPr>
              <a:t>print(n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,"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为合数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")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3797" name="文本框 33796"/>
          <p:cNvSpPr txBox="1"/>
          <p:nvPr/>
        </p:nvSpPr>
        <p:spPr>
          <a:xfrm>
            <a:off x="684213" y="333375"/>
            <a:ext cx="1727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作业展示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56100" y="3573145"/>
            <a:ext cx="3671888" cy="2861310"/>
          </a:xfrm>
          <a:prstGeom prst="rect">
            <a:avLst/>
          </a:prstGeom>
          <a:noFill/>
          <a:ln w="9525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>
                <a:latin typeface="Arial" panose="020B0604020202020204" pitchFamily="34" charset="0"/>
              </a:rPr>
              <a:t>bz=1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n=</a:t>
            </a:r>
            <a:r>
              <a:rPr lang="en-US" altLang="zh-CN" err="1">
                <a:latin typeface="Arial" panose="020B0604020202020204" pitchFamily="34" charset="0"/>
              </a:rPr>
              <a:t>int(input</a:t>
            </a:r>
            <a:r>
              <a:rPr lang="en-US" altLang="zh-CN">
                <a:latin typeface="Arial" panose="020B0604020202020204" pitchFamily="34" charset="0"/>
              </a:rPr>
              <a:t>("</a:t>
            </a:r>
            <a:r>
              <a:rPr lang="zh-CN" altLang="en-US" dirty="0">
                <a:latin typeface="Arial" panose="020B0604020202020204" pitchFamily="34" charset="0"/>
              </a:rPr>
              <a:t>输入一个整数：</a:t>
            </a:r>
            <a:r>
              <a:rPr lang="en-US" altLang="zh-CN">
                <a:latin typeface="Arial" panose="020B0604020202020204" pitchFamily="34" charset="0"/>
              </a:rPr>
              <a:t>"))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for i in range(1,n+1):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    if </a:t>
            </a:r>
            <a:r>
              <a:rPr lang="en-US" altLang="zh-CN" err="1">
                <a:latin typeface="Arial" panose="020B0604020202020204" pitchFamily="34" charset="0"/>
              </a:rPr>
              <a:t>n%i</a:t>
            </a:r>
            <a:r>
              <a:rPr lang="en-US" altLang="zh-CN">
                <a:latin typeface="Arial" panose="020B0604020202020204" pitchFamily="34" charset="0"/>
              </a:rPr>
              <a:t>==0:</a:t>
            </a:r>
            <a:endParaRPr lang="en-US" altLang="zh-CN">
              <a:latin typeface="Arial" panose="020B0604020202020204" pitchFamily="34" charset="0"/>
            </a:endParaRPr>
          </a:p>
          <a:p>
            <a:pPr lvl="1"/>
            <a:r>
              <a:rPr lang="en-US" altLang="zh-CN">
                <a:latin typeface="Arial" panose="020B0604020202020204" pitchFamily="34" charset="0"/>
              </a:rPr>
              <a:t>bz=0</a:t>
            </a:r>
            <a:endParaRPr lang="en-US" altLang="zh-CN">
              <a:latin typeface="Arial" panose="020B0604020202020204" pitchFamily="34" charset="0"/>
            </a:endParaRPr>
          </a:p>
          <a:p>
            <a:pPr indent="457200"/>
            <a:r>
              <a:rPr lang="en-US" altLang="zh-CN">
                <a:latin typeface="Arial" panose="020B0604020202020204" pitchFamily="34" charset="0"/>
              </a:rPr>
              <a:t>break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if bz==1:</a:t>
            </a:r>
            <a:endParaRPr lang="en-US" altLang="zh-CN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    </a:t>
            </a:r>
            <a:r>
              <a:rPr lang="en-US" altLang="zh-CN" err="1">
                <a:solidFill>
                  <a:srgbClr val="FF0000"/>
                </a:solidFill>
                <a:latin typeface="Arial" panose="020B0604020202020204" pitchFamily="34" charset="0"/>
              </a:rPr>
              <a:t>print(n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,"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为质数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")</a:t>
            </a:r>
            <a:endParaRPr lang="en-US" altLang="zh-CN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else:</a:t>
            </a:r>
            <a:endParaRPr lang="en-US" altLang="zh-CN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    </a:t>
            </a:r>
            <a:r>
              <a:rPr lang="en-US" altLang="zh-CN" err="1">
                <a:solidFill>
                  <a:srgbClr val="FF0000"/>
                </a:solidFill>
                <a:latin typeface="Arial" panose="020B0604020202020204" pitchFamily="34" charset="0"/>
              </a:rPr>
              <a:t>print(n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,"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为合数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")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矩形 32769"/>
          <p:cNvSpPr/>
          <p:nvPr/>
        </p:nvSpPr>
        <p:spPr>
          <a:xfrm>
            <a:off x="1042988" y="2060575"/>
            <a:ext cx="65532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>
                <a:latin typeface="Arial" panose="020B0604020202020204" pitchFamily="34" charset="0"/>
              </a:rPr>
              <a:t>n=</a:t>
            </a:r>
            <a:r>
              <a:rPr lang="en-US" altLang="zh-CN" sz="2800" b="1" err="1">
                <a:latin typeface="Arial" panose="020B0604020202020204" pitchFamily="34" charset="0"/>
              </a:rPr>
              <a:t>int(input</a:t>
            </a:r>
            <a:r>
              <a:rPr lang="en-US" altLang="zh-CN" sz="2800" b="1">
                <a:latin typeface="Arial" panose="020B0604020202020204" pitchFamily="34" charset="0"/>
              </a:rPr>
              <a:t>("</a:t>
            </a:r>
            <a:r>
              <a:rPr lang="zh-CN" altLang="en-US" sz="2800" b="1" dirty="0">
                <a:latin typeface="Arial" panose="020B0604020202020204" pitchFamily="34" charset="0"/>
              </a:rPr>
              <a:t>请输入一个整数</a:t>
            </a:r>
            <a:r>
              <a:rPr lang="en-US" altLang="zh-CN" sz="2800" b="1">
                <a:latin typeface="Arial" panose="020B0604020202020204" pitchFamily="34" charset="0"/>
              </a:rPr>
              <a:t>"))</a:t>
            </a:r>
            <a:endParaRPr lang="en-US" altLang="zh-CN" sz="2800" b="1">
              <a:latin typeface="Arial" panose="020B0604020202020204" pitchFamily="34" charset="0"/>
            </a:endParaRPr>
          </a:p>
          <a:p>
            <a:r>
              <a:rPr lang="en-US" altLang="zh-CN" sz="2800" b="1">
                <a:latin typeface="Arial" panose="020B0604020202020204" pitchFamily="34" charset="0"/>
              </a:rPr>
              <a:t>for i in range(2,n):</a:t>
            </a:r>
            <a:endParaRPr lang="en-US" altLang="zh-CN" sz="2800" b="1">
              <a:latin typeface="Arial" panose="020B0604020202020204" pitchFamily="34" charset="0"/>
            </a:endParaRPr>
          </a:p>
          <a:p>
            <a:r>
              <a:rPr lang="en-US" altLang="zh-CN" sz="2800" b="1">
                <a:latin typeface="Arial" panose="020B0604020202020204" pitchFamily="34" charset="0"/>
              </a:rPr>
              <a:t>    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2800" b="1">
                <a:latin typeface="Arial" panose="020B0604020202020204" pitchFamily="34" charset="0"/>
              </a:rPr>
              <a:t> </a:t>
            </a:r>
            <a:r>
              <a:rPr lang="en-US" altLang="zh-CN" sz="2800" b="1" err="1">
                <a:latin typeface="Arial" panose="020B0604020202020204" pitchFamily="34" charset="0"/>
              </a:rPr>
              <a:t>n%i</a:t>
            </a:r>
            <a:r>
              <a:rPr lang="en-US" altLang="zh-CN" sz="2800" b="1">
                <a:latin typeface="Arial" panose="020B0604020202020204" pitchFamily="34" charset="0"/>
              </a:rPr>
              <a:t>==0:</a:t>
            </a:r>
            <a:endParaRPr lang="en-US" altLang="zh-CN" sz="2800" b="1">
              <a:latin typeface="Arial" panose="020B0604020202020204" pitchFamily="34" charset="0"/>
            </a:endParaRPr>
          </a:p>
          <a:p>
            <a:r>
              <a:rPr lang="en-US" altLang="zh-CN" sz="2800" b="1">
                <a:latin typeface="Arial" panose="020B0604020202020204" pitchFamily="34" charset="0"/>
              </a:rPr>
              <a:t>      </a:t>
            </a:r>
            <a:r>
              <a:rPr lang="en-US" altLang="zh-CN" sz="2800" b="1" err="1">
                <a:latin typeface="Arial" panose="020B0604020202020204" pitchFamily="34" charset="0"/>
              </a:rPr>
              <a:t>print(i</a:t>
            </a:r>
            <a:r>
              <a:rPr lang="en-US" altLang="zh-CN" sz="2800" b="1">
                <a:latin typeface="Arial" panose="020B0604020202020204" pitchFamily="34" charset="0"/>
              </a:rPr>
              <a:t>,"</a:t>
            </a:r>
            <a:r>
              <a:rPr lang="zh-CN" altLang="en-US" sz="2800" b="1" dirty="0">
                <a:latin typeface="Arial" panose="020B0604020202020204" pitchFamily="34" charset="0"/>
              </a:rPr>
              <a:t>是合数</a:t>
            </a:r>
            <a:r>
              <a:rPr lang="en-US" altLang="zh-CN" sz="2800" b="1">
                <a:latin typeface="Arial" panose="020B0604020202020204" pitchFamily="34" charset="0"/>
              </a:rPr>
              <a:t>")</a:t>
            </a:r>
            <a:endParaRPr lang="en-US" altLang="zh-CN" sz="2800" b="1">
              <a:latin typeface="Arial" panose="020B0604020202020204" pitchFamily="34" charset="0"/>
            </a:endParaRPr>
          </a:p>
          <a:p>
            <a:r>
              <a:rPr lang="en-US" altLang="zh-CN" sz="2800" b="1">
                <a:latin typeface="Arial" panose="020B0604020202020204" pitchFamily="34" charset="0"/>
              </a:rPr>
              <a:t>    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else:</a:t>
            </a:r>
            <a:endParaRPr lang="en-US" altLang="zh-CN" sz="28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CN" sz="2800" b="1">
                <a:latin typeface="Arial" panose="020B0604020202020204" pitchFamily="34" charset="0"/>
              </a:rPr>
              <a:t>      </a:t>
            </a:r>
            <a:r>
              <a:rPr lang="en-US" altLang="zh-CN" sz="2800" b="1" err="1">
                <a:latin typeface="Arial" panose="020B0604020202020204" pitchFamily="34" charset="0"/>
              </a:rPr>
              <a:t>print(i</a:t>
            </a:r>
            <a:r>
              <a:rPr lang="en-US" altLang="zh-CN" sz="2800" b="1">
                <a:latin typeface="Arial" panose="020B0604020202020204" pitchFamily="34" charset="0"/>
              </a:rPr>
              <a:t>,"</a:t>
            </a:r>
            <a:r>
              <a:rPr lang="zh-CN" altLang="en-US" sz="2800" b="1" dirty="0">
                <a:latin typeface="Arial" panose="020B0604020202020204" pitchFamily="34" charset="0"/>
              </a:rPr>
              <a:t>是质数</a:t>
            </a:r>
            <a:r>
              <a:rPr lang="en-US" altLang="zh-CN" sz="2800" b="1">
                <a:latin typeface="Arial" panose="020B0604020202020204" pitchFamily="34" charset="0"/>
              </a:rPr>
              <a:t>")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32771" name="文本框 32770"/>
          <p:cNvSpPr txBox="1"/>
          <p:nvPr/>
        </p:nvSpPr>
        <p:spPr>
          <a:xfrm>
            <a:off x="684213" y="1484313"/>
            <a:ext cx="24701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这段程序有什么问题？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Picture 14"/>
          <p:cNvPicPr>
            <a:picLocks noChangeAspect="1" noChangeArrowheads="1"/>
          </p:cNvPicPr>
          <p:nvPr/>
        </p:nvPicPr>
        <p:blipFill rotWithShape="1">
          <a:blip r:embed="rId1" cstate="print"/>
          <a:srcRect b="39681"/>
          <a:stretch>
            <a:fillRect/>
          </a:stretch>
        </p:blipFill>
        <p:spPr bwMode="auto">
          <a:xfrm>
            <a:off x="500034" y="2285992"/>
            <a:ext cx="6027343" cy="9989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矩形 3"/>
          <p:cNvSpPr/>
          <p:nvPr/>
        </p:nvSpPr>
        <p:spPr>
          <a:xfrm>
            <a:off x="714348" y="285728"/>
            <a:ext cx="45704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50" normalizeH="0" baseline="0" noProof="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统计符合条件的数的个数？</a:t>
            </a:r>
            <a:endParaRPr kumimoji="0" lang="zh-CN" altLang="en-US" sz="2800" b="0" i="0" u="none" strike="noStrike" kern="1200" cap="none" spc="50" normalizeH="0" baseline="0" noProof="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72132" y="214290"/>
            <a:ext cx="1261884" cy="52322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all" spc="0" normalizeH="0" baseline="0" noProof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计数器</a:t>
            </a:r>
            <a:endParaRPr kumimoji="0" lang="zh-CN" altLang="en-US" sz="2800" b="1" i="0" u="none" strike="noStrike" kern="1200" cap="all" spc="0" normalizeH="0" baseline="0" noProof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00063" y="2071688"/>
            <a:ext cx="121443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86063" y="1643063"/>
            <a:ext cx="18716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计数器清零</a:t>
            </a:r>
            <a:endParaRPr kumimoji="0" lang="zh-CN" altLang="en-US" sz="2400" kern="1200" cap="none" spc="0" normalizeH="0" baseline="0" noProof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16475" y="3617913"/>
            <a:ext cx="2944813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符合条件的增加</a:t>
            </a:r>
            <a:r>
              <a:rPr kumimoji="0" lang="en-US" altLang="zh-CN" sz="2400" kern="1200" cap="none" spc="0" normalizeH="0" baseline="0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kern="1200" cap="none" spc="0" normalizeH="0" baseline="0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</a:t>
            </a:r>
            <a:endParaRPr kumimoji="0" lang="zh-CN" altLang="en-US" sz="2400" kern="1200" cap="none" spc="0" normalizeH="0" baseline="0" noProof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316163" y="4046538"/>
            <a:ext cx="242887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30225" y="4760913"/>
            <a:ext cx="437991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44663" y="4832350"/>
            <a:ext cx="35607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循环结束后才输出个数</a:t>
            </a:r>
            <a:endParaRPr kumimoji="0" lang="zh-CN" altLang="en-US" sz="2400" kern="1200" cap="none" spc="0" normalizeH="0" baseline="0" noProof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785813" y="928688"/>
            <a:ext cx="6143625" cy="1588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228" name="Picture 2" descr="https://gimg2.baidu.com/image_search/src=http%3A%2F%2Fimg.alicdn.com%2Fi3%2F2212513028267%2FO1CN01pBRL6h1zwpeWmlM7Z_%21%210-item_pic.jpg&amp;refer=http%3A%2F%2Fimg.alicdn.com&amp;app=2002&amp;size=f9999,10000&amp;q=a80&amp;n=0&amp;g=0n&amp;fmt=auto?sec=1728180476&amp;t=b5ef19e365e7b2fabdb78bdd320b66c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45100" y="4189413"/>
            <a:ext cx="1785938" cy="17859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9" name="Picture 4" descr="http://t14.baidu.com/it/u=2461157823,771839625&amp;fm=224&amp;app=112&amp;f=JPEG?w=500&amp;h=500"/>
          <p:cNvPicPr>
            <a:picLocks noChangeAspect="1"/>
          </p:cNvPicPr>
          <p:nvPr/>
        </p:nvPicPr>
        <p:blipFill>
          <a:blip r:embed="rId3">
            <a:clrChange>
              <a:clrFrom>
                <a:srgbClr val="F4F4F4"/>
              </a:clrFrom>
              <a:clrTo>
                <a:srgbClr val="F4F4F4">
                  <a:alpha val="0"/>
                </a:srgbClr>
              </a:clrTo>
            </a:clrChange>
          </a:blip>
          <a:srcRect l="6000" t="39000" r="53500" b="14499"/>
          <a:stretch>
            <a:fillRect/>
          </a:stretch>
        </p:blipFill>
        <p:spPr>
          <a:xfrm>
            <a:off x="4429125" y="1071563"/>
            <a:ext cx="1000125" cy="114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30" name="Picture 8" descr="https://img30.360buyimg.com/popWaterMark/g15/M03/08/04/rBEhWVIlSvQIAAAAAAKAjsBXwyQAACuKwChwtUAAoCm866.jp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16788" y="2903538"/>
            <a:ext cx="1571625" cy="13509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500063" y="1500188"/>
            <a:ext cx="18716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s=0</a:t>
            </a:r>
            <a:endParaRPr kumimoji="0" lang="zh-CN" altLang="en-US" sz="2800" kern="1200" cap="none" spc="0" normalizeH="0" baseline="0" noProof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16163" y="3546475"/>
            <a:ext cx="2857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s=s+1 </a:t>
            </a:r>
            <a:r>
              <a:rPr kumimoji="0" lang="zh-CN" altLang="en-US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或 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s+=1</a:t>
            </a:r>
            <a:endParaRPr kumimoji="0" lang="zh-CN" altLang="en-US" sz="2800" kern="1200" cap="none" spc="0" normalizeH="0" baseline="0" noProof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0225" y="4260850"/>
            <a:ext cx="435768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print(‘\n</a:t>
            </a:r>
            <a:r>
              <a:rPr kumimoji="0" lang="zh-CN" altLang="en-US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总数是：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’</a:t>
            </a:r>
            <a:r>
              <a:rPr kumimoji="0" lang="zh-CN" altLang="en-US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s)</a:t>
            </a:r>
            <a:endParaRPr kumimoji="0" lang="zh-CN" altLang="en-US" sz="2800" kern="1200" cap="none" spc="0" normalizeH="0" baseline="0" noProof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6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683568" y="124454"/>
            <a:ext cx="67056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50" normalizeH="0" baseline="0" noProof="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将符合条件的数累加在一起并输出</a:t>
            </a:r>
            <a:r>
              <a:rPr kumimoji="0" lang="zh-CN" altLang="en-US" sz="4000" b="0" i="0" u="none" strike="noStrike" kern="1200" cap="none" spc="50" normalizeH="0" baseline="0" noProof="0" dirty="0">
                <a:ln w="11430"/>
                <a:solidFill>
                  <a:schemeClr val="accent2">
                    <a:lumMod val="5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加和</a:t>
            </a:r>
            <a:endParaRPr kumimoji="0" lang="zh-CN" altLang="en-US" sz="4000" b="0" i="0" u="none" strike="noStrike" kern="1200" cap="none" spc="50" normalizeH="0" baseline="0" noProof="0" dirty="0">
              <a:ln w="11430"/>
              <a:solidFill>
                <a:schemeClr val="accent2">
                  <a:lumMod val="5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85813" y="928688"/>
            <a:ext cx="6143625" cy="1588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14"/>
          <p:cNvPicPr>
            <a:picLocks noChangeAspect="1" noChangeArrowheads="1"/>
          </p:cNvPicPr>
          <p:nvPr/>
        </p:nvPicPr>
        <p:blipFill rotWithShape="1">
          <a:blip r:embed="rId1" cstate="print"/>
          <a:srcRect b="39681"/>
          <a:stretch>
            <a:fillRect/>
          </a:stretch>
        </p:blipFill>
        <p:spPr bwMode="auto">
          <a:xfrm>
            <a:off x="500034" y="2285992"/>
            <a:ext cx="6027343" cy="9989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直接连接符 9"/>
          <p:cNvCxnSpPr/>
          <p:nvPr/>
        </p:nvCxnSpPr>
        <p:spPr>
          <a:xfrm>
            <a:off x="500063" y="2071688"/>
            <a:ext cx="121443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6"/>
          <p:cNvSpPr txBox="1"/>
          <p:nvPr/>
        </p:nvSpPr>
        <p:spPr>
          <a:xfrm>
            <a:off x="2786063" y="1643063"/>
            <a:ext cx="18716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累加器</a:t>
            </a:r>
            <a:r>
              <a:rPr kumimoji="0" lang="zh-CN" altLang="en-US" sz="2400" kern="1200" cap="none" spc="0" normalizeH="0" baseline="0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清零</a:t>
            </a:r>
            <a:endParaRPr kumimoji="0" lang="zh-CN" altLang="en-US" sz="2400" kern="1200" cap="none" spc="0" normalizeH="0" baseline="0" noProof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5173663" y="3625850"/>
            <a:ext cx="199072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累加</a:t>
            </a:r>
            <a:r>
              <a:rPr kumimoji="0" lang="zh-CN" altLang="en-US" sz="2400" kern="1200" cap="none" spc="0" normalizeH="0" baseline="0" noProof="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器</a:t>
            </a:r>
            <a:r>
              <a:rPr kumimoji="0" lang="zh-CN" altLang="en-US" sz="2400" kern="1200" cap="none" spc="0" normalizeH="0" baseline="0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累加</a:t>
            </a:r>
            <a:endParaRPr kumimoji="0" lang="zh-CN" altLang="en-US" sz="2400" kern="1200" cap="none" spc="0" normalizeH="0" baseline="0" noProof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316163" y="4046538"/>
            <a:ext cx="242887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30225" y="4760913"/>
            <a:ext cx="4379913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0"/>
          <p:cNvSpPr txBox="1"/>
          <p:nvPr/>
        </p:nvSpPr>
        <p:spPr>
          <a:xfrm>
            <a:off x="1744663" y="4832350"/>
            <a:ext cx="35607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循环结束后才输出总和</a:t>
            </a:r>
            <a:endParaRPr kumimoji="0" lang="zh-CN" altLang="en-US" sz="2400" kern="1200" cap="none" spc="0" normalizeH="0" baseline="0" noProof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500063" y="1500188"/>
            <a:ext cx="18716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s=0</a:t>
            </a:r>
            <a:endParaRPr kumimoji="0" lang="zh-CN" altLang="en-US" sz="2800" kern="1200" cap="none" spc="0" normalizeH="0" baseline="0" noProof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316163" y="3546475"/>
            <a:ext cx="2857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s=</a:t>
            </a:r>
            <a:r>
              <a:rPr kumimoji="0" lang="en-US" altLang="zh-CN" sz="2800" kern="1200" cap="none" spc="0" normalizeH="0" baseline="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s+i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或 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s+=</a:t>
            </a:r>
            <a:r>
              <a:rPr kumimoji="0" lang="en-US" altLang="zh-CN" sz="2800" kern="1200" cap="none" spc="0" normalizeH="0" baseline="0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i</a:t>
            </a:r>
            <a:endParaRPr kumimoji="0" lang="zh-CN" altLang="en-US" sz="2800" kern="1200" cap="none" spc="0" normalizeH="0" baseline="0" noProof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30225" y="4260850"/>
            <a:ext cx="435768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print(‘\n</a:t>
            </a:r>
            <a:r>
              <a:rPr kumimoji="0" lang="zh-CN" altLang="en-US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总数是：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’</a:t>
            </a:r>
            <a:r>
              <a:rPr kumimoji="0" lang="zh-CN" altLang="en-US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s)</a:t>
            </a:r>
            <a:endParaRPr kumimoji="0" lang="zh-CN" altLang="en-US" sz="2800" kern="1200" cap="none" spc="0" normalizeH="0" baseline="0" noProof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6" name="Picture 4" descr="https://gimg2.baidu.com/image_search/src=http%3A%2F%2Fpic.51yuansu.com%2Fpic3%2Fcover%2F01%2F57%2F97%2F594cec8fc200d_610.jpg&amp;refer=http%3A%2F%2Fpic.51yuansu.com&amp;app=2002&amp;size=f9999,10000&amp;q=a80&amp;n=0&amp;g=0n&amp;fmt=jpeg?sec=1617753566&amp;t=0d373d64e7a20ae17ba311a3b2b66f3a"/>
          <p:cNvPicPr>
            <a:picLocks noChangeAspect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43500" y="1071563"/>
            <a:ext cx="1208088" cy="1104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" name="Picture 2" descr="https://gimg2.baidu.com/image_search/src=http%3A%2F%2Fpic.51yuansu.com%2Fpic3%2Fcover%2F02%2F82%2F86%2F5a55f3539d9db_610.jpg&amp;refer=http%3A%2F%2Fpic.51yuansu.com&amp;app=2002&amp;size=f9999,10000&amp;q=a80&amp;n=0&amp;g=0n&amp;fmt=jpeg?sec=1617753368&amp;t=b60ce77e2be63d5780eabdbc423ef81a"/>
          <p:cNvPicPr>
            <a:picLocks noChangeAspect="1"/>
          </p:cNvPicPr>
          <p:nvPr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00875" y="3500438"/>
            <a:ext cx="1584325" cy="1470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2"/>
          <p:cNvSpPr txBox="1"/>
          <p:nvPr/>
        </p:nvSpPr>
        <p:spPr>
          <a:xfrm>
            <a:off x="941388" y="114300"/>
            <a:ext cx="3384550" cy="990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lnSpc>
                <a:spcPct val="9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比较与思考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TextBox 7"/>
          <p:cNvSpPr txBox="1"/>
          <p:nvPr/>
        </p:nvSpPr>
        <p:spPr>
          <a:xfrm>
            <a:off x="4859338" y="800100"/>
            <a:ext cx="360045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>
                <a:latin typeface="宋体" panose="02010600030101010101" pitchFamily="2" charset="-122"/>
              </a:rPr>
              <a:t>S=1*3*5*7*…….*19</a:t>
            </a:r>
            <a:endParaRPr lang="en-US" altLang="zh-CN" sz="2800">
              <a:latin typeface="宋体" panose="02010600030101010101" pitchFamily="2" charset="-122"/>
            </a:endParaRPr>
          </a:p>
        </p:txBody>
      </p:sp>
      <p:sp>
        <p:nvSpPr>
          <p:cNvPr id="7172" name="TextBox 8"/>
          <p:cNvSpPr txBox="1"/>
          <p:nvPr/>
        </p:nvSpPr>
        <p:spPr>
          <a:xfrm>
            <a:off x="530225" y="801688"/>
            <a:ext cx="3795713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>
                <a:latin typeface="宋体" panose="02010600030101010101" pitchFamily="2" charset="-122"/>
              </a:rPr>
              <a:t>S=1+3+5+7+……+19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83918" y="1510455"/>
            <a:ext cx="4107341" cy="16448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4067" y="1457182"/>
            <a:ext cx="4365060" cy="16448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7" name="直接箭头连接符 6"/>
          <p:cNvCxnSpPr/>
          <p:nvPr/>
        </p:nvCxnSpPr>
        <p:spPr>
          <a:xfrm>
            <a:off x="4500563" y="476250"/>
            <a:ext cx="0" cy="3240088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1"/>
          <p:cNvSpPr txBox="1"/>
          <p:nvPr/>
        </p:nvSpPr>
        <p:spPr>
          <a:xfrm>
            <a:off x="165100" y="4005263"/>
            <a:ext cx="8670925" cy="2492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marR="0" indent="-285750" defTabSz="914400" eaLnBrk="1" hangingPunct="1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40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</a:t>
            </a:r>
            <a:r>
              <a:rPr kumimoji="0" lang="zh-CN" altLang="en-US" sz="2400" b="1" kern="120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</a:t>
            </a:r>
            <a:r>
              <a:rPr kumimoji="0" lang="zh-CN" altLang="en-US" sz="240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结果变量一般初始化为</a:t>
            </a:r>
            <a:r>
              <a:rPr kumimoji="0" lang="en-US" altLang="zh-CN" sz="240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240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，累</a:t>
            </a:r>
            <a:r>
              <a:rPr kumimoji="0" lang="zh-CN" altLang="en-US" sz="2400" b="1" kern="120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乘</a:t>
            </a:r>
            <a:r>
              <a:rPr kumimoji="0" lang="zh-CN" altLang="en-US" sz="240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结果变量一般初始化为</a:t>
            </a:r>
            <a:r>
              <a:rPr kumimoji="0" lang="en-US" altLang="zh-CN" sz="240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en-US" altLang="zh-CN" sz="2400" kern="1200" cap="none" spc="0" normalizeH="0" baseline="0" noProof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indent="-285750" defTabSz="914400" eaLnBrk="1" hangingPunct="1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累加的循环体为</a:t>
            </a:r>
            <a:r>
              <a:rPr kumimoji="0" lang="en-US" altLang="zh-CN" sz="2800" kern="120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s=</a:t>
            </a:r>
            <a:r>
              <a:rPr kumimoji="0" lang="en-US" altLang="zh-CN" sz="2800" kern="1200" cap="none" spc="0" normalizeH="0" baseline="0" noProof="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s+i</a:t>
            </a:r>
            <a:endParaRPr kumimoji="0" lang="en-US" altLang="zh-CN" sz="2800" kern="1200" cap="none" spc="0" normalizeH="0" baseline="0" noProof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indent="-285750" defTabSz="914400" eaLnBrk="1" hangingPunct="1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kern="1200" cap="none" spc="0" normalizeH="0" baseline="0" noProof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累乘的循环体为</a:t>
            </a:r>
            <a:r>
              <a:rPr kumimoji="0" lang="en-US" altLang="zh-CN" sz="2800" kern="1200" cap="none" spc="0" normalizeH="0" baseline="0" noProof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s=s*</a:t>
            </a:r>
            <a:r>
              <a:rPr kumimoji="0" lang="en-US" altLang="zh-CN" sz="2800" kern="1200" cap="none" spc="0" normalizeH="0" baseline="0" noProof="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endParaRPr kumimoji="0" lang="en-US" altLang="zh-CN" sz="2800" kern="1200" cap="none" spc="0" normalizeH="0" baseline="0" noProof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endParaRPr kumimoji="0" lang="zh-CN" altLang="en-US" sz="2400" kern="1200" cap="none" spc="0" normalizeH="0" baseline="0" noProof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72013" y="1446213"/>
            <a:ext cx="692150" cy="33813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43525" y="2241550"/>
            <a:ext cx="1152525" cy="33813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941388" y="692150"/>
            <a:ext cx="2593975" cy="0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1"/>
          <p:cNvSpPr txBox="1"/>
          <p:nvPr/>
        </p:nvSpPr>
        <p:spPr>
          <a:xfrm>
            <a:off x="611188" y="115888"/>
            <a:ext cx="4176712" cy="6492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lnSpc>
                <a:spcPct val="90000"/>
              </a:lnSpc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累加累乘问题：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9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2420938"/>
            <a:ext cx="7696200" cy="2879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4355976" y="1219666"/>
            <a:ext cx="2980304" cy="9233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50" normalizeH="0" baseline="0" noProof="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代码模板</a:t>
            </a:r>
            <a:endParaRPr kumimoji="0" lang="zh-CN" altLang="en-US" sz="5400" b="1" i="0" u="none" strike="noStrike" kern="1200" cap="none" spc="50" normalizeH="0" baseline="0" noProof="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84213" y="908050"/>
            <a:ext cx="6143625" cy="1588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2"/>
          <p:cNvSpPr txBox="1"/>
          <p:nvPr/>
        </p:nvSpPr>
        <p:spPr>
          <a:xfrm>
            <a:off x="647700" y="115888"/>
            <a:ext cx="8153400" cy="990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lnSpc>
                <a:spcPct val="90000"/>
              </a:lnSpc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头脑风暴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9552" y="2492896"/>
            <a:ext cx="7695055" cy="2880320"/>
          </a:xfrm>
          <a:prstGeom prst="rect">
            <a:avLst/>
          </a:prstGeom>
          <a:solidFill>
            <a:srgbClr val="FFFFFF">
              <a:shade val="85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1268413"/>
            <a:ext cx="5661025" cy="86518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直接连接符 4"/>
          <p:cNvCxnSpPr/>
          <p:nvPr/>
        </p:nvCxnSpPr>
        <p:spPr>
          <a:xfrm>
            <a:off x="684213" y="908050"/>
            <a:ext cx="6143625" cy="1588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2"/>
          <p:cNvSpPr txBox="1"/>
          <p:nvPr/>
        </p:nvSpPr>
        <p:spPr>
          <a:xfrm>
            <a:off x="647700" y="115888"/>
            <a:ext cx="8153400" cy="990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lnSpc>
                <a:spcPct val="90000"/>
              </a:lnSpc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头脑风暴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9552" y="2492896"/>
            <a:ext cx="7695055" cy="2880320"/>
          </a:xfrm>
          <a:prstGeom prst="rect">
            <a:avLst/>
          </a:prstGeom>
          <a:solidFill>
            <a:srgbClr val="FFFFFF">
              <a:shade val="85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5" name="直接连接符 4"/>
          <p:cNvCxnSpPr/>
          <p:nvPr/>
        </p:nvCxnSpPr>
        <p:spPr>
          <a:xfrm>
            <a:off x="684213" y="908050"/>
            <a:ext cx="6143625" cy="1588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4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713" y="1195388"/>
            <a:ext cx="4997450" cy="11001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2"/>
          <p:cNvSpPr txBox="1"/>
          <p:nvPr/>
        </p:nvSpPr>
        <p:spPr>
          <a:xfrm>
            <a:off x="647700" y="115888"/>
            <a:ext cx="8153400" cy="990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lnSpc>
                <a:spcPct val="90000"/>
              </a:lnSpc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头脑风暴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9552" y="2492896"/>
            <a:ext cx="7695055" cy="2880320"/>
          </a:xfrm>
          <a:prstGeom prst="rect">
            <a:avLst/>
          </a:prstGeom>
          <a:solidFill>
            <a:srgbClr val="FFFFFF">
              <a:shade val="85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5" name="直接连接符 4"/>
          <p:cNvCxnSpPr/>
          <p:nvPr/>
        </p:nvCxnSpPr>
        <p:spPr>
          <a:xfrm>
            <a:off x="684213" y="908050"/>
            <a:ext cx="6143625" cy="1588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269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3" y="1038225"/>
            <a:ext cx="5761037" cy="1290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2"/>
          <p:cNvSpPr txBox="1"/>
          <p:nvPr/>
        </p:nvSpPr>
        <p:spPr>
          <a:xfrm>
            <a:off x="647700" y="115888"/>
            <a:ext cx="8153400" cy="990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lnSpc>
                <a:spcPct val="90000"/>
              </a:lnSpc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头脑风暴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15589" y="2631270"/>
            <a:ext cx="7695055" cy="2880320"/>
          </a:xfrm>
          <a:prstGeom prst="rect">
            <a:avLst/>
          </a:prstGeom>
          <a:solidFill>
            <a:srgbClr val="FFFFFF">
              <a:shade val="85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5" name="直接连接符 4"/>
          <p:cNvCxnSpPr/>
          <p:nvPr/>
        </p:nvCxnSpPr>
        <p:spPr>
          <a:xfrm>
            <a:off x="684213" y="908050"/>
            <a:ext cx="6143625" cy="1588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29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050925"/>
            <a:ext cx="5113338" cy="650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0" y="1843088"/>
            <a:ext cx="5040313" cy="633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950</Words>
  <Application>WPS 演示</Application>
  <PresentationFormat>在屏幕上显示</PresentationFormat>
  <Paragraphs>112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Calibri Light</vt:lpstr>
      <vt:lpstr>微软雅黑</vt:lpstr>
      <vt:lpstr>黑体</vt:lpstr>
      <vt:lpstr>Calibri</vt:lpstr>
      <vt:lpstr>Arial Unicode MS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LiYing</dc:creator>
  <cp:lastModifiedBy>Administrator</cp:lastModifiedBy>
  <cp:revision>831</cp:revision>
  <dcterms:created xsi:type="dcterms:W3CDTF">2020-08-10T07:49:00Z</dcterms:created>
  <dcterms:modified xsi:type="dcterms:W3CDTF">2026-09-10T08:35:04Z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2052-11.8.2.8053</vt:lpwstr>
  </property>
  <property fmtid="{D5CDD505-2E9C-101B-9397-08002B2CF9AE}" pid="3" name="ICV">
    <vt:lpwstr>034E5469A73342789DE062AAEED3DA0C_12</vt:lpwstr>
  </property>
</Properties>
</file>